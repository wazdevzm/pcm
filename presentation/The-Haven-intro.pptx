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a8daeb8-c4f2-383f-31b6-84584a1d66e7}">
          <p14:sldIdLst>
            <p14:sldId id="256"/>
          </p14:sldIdLst>
        </p14:section>
        <p14:section name="Why" id="{89d02f93-7655-5531-bf34-f76fb731b6df}">
          <p14:sldIdLst>
            <p14:sldId id="257"/>
          </p14:sldIdLst>
        </p14:section>
        <p14:section name="The app" id="{3f52a5c9-eb90-d79f-3d08-8d85c62e3d39}">
          <p14:sldIdLst>
            <p14:sldId id="258"/>
            <p14:sldId id="259"/>
            <p14:sldId id="260"/>
          </p14:sldIdLst>
        </p14:section>
        <p14:section name="The website" id="{bc3559cf-33eb-dc7e-36cb-4c9dbfcb542f}">
          <p14:sldIdLst>
            <p14:sldId id="261"/>
          </p14:sldIdLst>
        </p14:section>
        <p14:section name="How it works" id="{860541a2-5af2-3aa8-3f7c-6e3f3567d89e}">
          <p14:sldIdLst>
            <p14:sldId id="262"/>
          </p14:sldIdLst>
        </p14:section>
        <p14:section name="Next steps" id="{326927f1-9979-30bf-c85b-a3650541059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lbs-pcm/37459c6f-1416-4bfc-9dd3-789ad4354626/scratchpad/deck-assets/haven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3422" y="548640"/>
            <a:ext cx="1186713" cy="310896"/>
          </a:xfrm>
          <a:prstGeom prst="rect">
            <a:avLst/>
          </a:prstGeom>
        </p:spPr>
      </p:pic>
      <p:pic>
        <p:nvPicPr>
          <p:cNvPr id="3" name="Image 1" descr="/Users/lbs/pcm/brand-kit/pcm/pcm-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226" y="493776"/>
            <a:ext cx="341829" cy="4206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411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aven-logo" descr="The Hav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3291840" cy="2350972"/>
          </a:xfrm>
          <a:prstGeom prst="rect">
            <a:avLst/>
          </a:prstGeom>
        </p:spPr>
      </p:pic>
      <p:sp>
        <p:nvSpPr>
          <p:cNvPr id="3" name="deck-title"/>
          <p:cNvSpPr txBox="1"/>
          <p:nvPr/>
        </p:nvSpPr>
        <p:spPr>
          <a:xfrm>
            <a:off x="4754880" y="15544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The Haven</a:t>
            </a:r>
            <a:endParaRPr lang="en-US" sz="4400" dirty="0"/>
          </a:p>
        </p:txBody>
      </p:sp>
      <p:sp>
        <p:nvSpPr>
          <p:cNvPr id="4" name="deck-sub"/>
          <p:cNvSpPr txBox="1"/>
          <p:nvPr/>
        </p:nvSpPr>
        <p:spPr>
          <a:xfrm>
            <a:off x="4754880" y="2468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One app and one website for ministry life at the Copperbelt University</a:t>
            </a:r>
            <a:endParaRPr lang="en-US" sz="2000" dirty="0"/>
          </a:p>
        </p:txBody>
      </p:sp>
      <p:pic>
        <p:nvPicPr>
          <p:cNvPr id="5" name="pcm-shield" descr="CBU PCM 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749040"/>
            <a:ext cx="743107" cy="914400"/>
          </a:xfrm>
          <a:prstGeom prst="rect">
            <a:avLst/>
          </a:prstGeom>
        </p:spPr>
      </p:pic>
      <p:sp>
        <p:nvSpPr>
          <p:cNvPr id="6" name="endorse"/>
          <p:cNvSpPr txBox="1"/>
          <p:nvPr/>
        </p:nvSpPr>
        <p:spPr>
          <a:xfrm>
            <a:off x="566928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</a:rPr>
              <a:t>A ministry of </a:t>
            </a:r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</a:rPr>
              <a:t>CBU PCM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411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built The Haven</a:t>
            </a:r>
            <a:endParaRPr lang="en-US" sz="3400" dirty="0"/>
          </a:p>
        </p:txBody>
      </p:sp>
      <p:sp>
        <p:nvSpPr>
          <p:cNvPr id="3" name="why-card-0"/>
          <p:cNvSpPr/>
          <p:nvPr/>
        </p:nvSpPr>
        <p:spPr>
          <a:xfrm>
            <a:off x="548640" y="1737360"/>
            <a:ext cx="3474720" cy="35661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" name="why-num-bg-0"/>
          <p:cNvSpPr/>
          <p:nvPr/>
        </p:nvSpPr>
        <p:spPr>
          <a:xfrm>
            <a:off x="86868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2D6E"/>
          </a:solidFill>
          <a:ln/>
        </p:spPr>
      </p:sp>
      <p:sp>
        <p:nvSpPr>
          <p:cNvPr id="5" name="why-num-0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why-h-0"/>
          <p:cNvSpPr txBox="1"/>
          <p:nvPr/>
        </p:nvSpPr>
        <p:spPr>
          <a:xfrm>
            <a:off x="86868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one place</a:t>
            </a:r>
            <a:endParaRPr lang="en-US" sz="2000" dirty="0"/>
          </a:p>
        </p:txBody>
      </p:sp>
      <p:sp>
        <p:nvSpPr>
          <p:cNvPr id="7" name="why-b-0"/>
          <p:cNvSpPr txBox="1"/>
          <p:nvPr/>
        </p:nvSpPr>
        <p:spPr>
          <a:xfrm>
            <a:off x="868680" y="37033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Events, bands, prayer, counseling, news and merch in one app, instead of scattered posts and forms.</a:t>
            </a:r>
            <a:endParaRPr lang="en-US" sz="1500" dirty="0"/>
          </a:p>
        </p:txBody>
      </p:sp>
      <p:sp>
        <p:nvSpPr>
          <p:cNvPr id="8" name="why-card-1"/>
          <p:cNvSpPr/>
          <p:nvPr/>
        </p:nvSpPr>
        <p:spPr>
          <a:xfrm>
            <a:off x="4297680" y="1737360"/>
            <a:ext cx="3474720" cy="35661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" name="why-num-bg-1"/>
          <p:cNvSpPr/>
          <p:nvPr/>
        </p:nvSpPr>
        <p:spPr>
          <a:xfrm>
            <a:off x="461772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2D6E"/>
          </a:solidFill>
          <a:ln/>
        </p:spPr>
      </p:sp>
      <p:sp>
        <p:nvSpPr>
          <p:cNvPr id="10" name="why-num-1"/>
          <p:cNvSpPr txBox="1"/>
          <p:nvPr/>
        </p:nvSpPr>
        <p:spPr>
          <a:xfrm>
            <a:off x="46177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why-h-1"/>
          <p:cNvSpPr txBox="1"/>
          <p:nvPr/>
        </p:nvSpPr>
        <p:spPr>
          <a:xfrm>
            <a:off x="461772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that reaches people</a:t>
            </a:r>
            <a:endParaRPr lang="en-US" sz="2000" dirty="0"/>
          </a:p>
        </p:txBody>
      </p:sp>
      <p:sp>
        <p:nvSpPr>
          <p:cNvPr id="12" name="why-b-1"/>
          <p:cNvSpPr txBox="1"/>
          <p:nvPr/>
        </p:nvSpPr>
        <p:spPr>
          <a:xfrm>
            <a:off x="4617720" y="37033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Students can ask for prayer (even anonymously) or book counseling in a minute, privately.</a:t>
            </a:r>
            <a:endParaRPr lang="en-US" sz="1500" dirty="0"/>
          </a:p>
        </p:txBody>
      </p:sp>
      <p:sp>
        <p:nvSpPr>
          <p:cNvPr id="13" name="why-card-2"/>
          <p:cNvSpPr/>
          <p:nvPr/>
        </p:nvSpPr>
        <p:spPr>
          <a:xfrm>
            <a:off x="8046720" y="1737360"/>
            <a:ext cx="3474720" cy="35661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why-num-bg-2"/>
          <p:cNvSpPr/>
          <p:nvPr/>
        </p:nvSpPr>
        <p:spPr>
          <a:xfrm>
            <a:off x="836676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2D6E"/>
          </a:solidFill>
          <a:ln/>
        </p:spPr>
      </p:sp>
      <p:sp>
        <p:nvSpPr>
          <p:cNvPr id="15" name="why-num-2"/>
          <p:cNvSpPr txBox="1"/>
          <p:nvPr/>
        </p:nvSpPr>
        <p:spPr>
          <a:xfrm>
            <a:off x="83667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why-h-2"/>
          <p:cNvSpPr txBox="1"/>
          <p:nvPr/>
        </p:nvSpPr>
        <p:spPr>
          <a:xfrm>
            <a:off x="836676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admin for leaders</a:t>
            </a:r>
            <a:endParaRPr lang="en-US" sz="2000" dirty="0"/>
          </a:p>
        </p:txBody>
      </p:sp>
      <p:sp>
        <p:nvSpPr>
          <p:cNvPr id="17" name="why-b-2"/>
          <p:cNvSpPr txBox="1"/>
          <p:nvPr/>
        </p:nvSpPr>
        <p:spPr>
          <a:xfrm>
            <a:off x="8366760" y="37033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Leaders post events, answer requests and run their band from their phone.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411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app: find your place</a:t>
            </a:r>
            <a:endParaRPr lang="en-US" sz="3400" dirty="0"/>
          </a:p>
        </p:txBody>
      </p:sp>
      <p:sp>
        <p:nvSpPr>
          <p:cNvPr id="3" name="app-sub"/>
          <p:cNvSpPr txBox="1"/>
          <p:nvPr/>
        </p:nvSpPr>
        <p:spPr>
          <a:xfrm>
            <a:off x="54864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iPhone and Android. Sign in with Google or email.</a:t>
            </a:r>
            <a:endParaRPr lang="en-US" sz="1600" dirty="0"/>
          </a:p>
        </p:txBody>
      </p:sp>
      <p:sp>
        <p:nvSpPr>
          <p:cNvPr id="4" name="phone-01-home"/>
          <p:cNvSpPr/>
          <p:nvPr/>
        </p:nvSpPr>
        <p:spPr>
          <a:xfrm>
            <a:off x="786384" y="1700784"/>
            <a:ext cx="2129360" cy="4416552"/>
          </a:xfrm>
          <a:prstGeom prst="roundRect">
            <a:avLst>
              <a:gd name="adj" fmla="val 12024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5" name="shot-01-home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1964768" cy="4251960"/>
          </a:xfrm>
          <a:prstGeom prst="rect">
            <a:avLst/>
          </a:prstGeom>
        </p:spPr>
      </p:pic>
      <p:sp>
        <p:nvSpPr>
          <p:cNvPr id="6" name="cap-01-home"/>
          <p:cNvSpPr txBox="1"/>
          <p:nvPr/>
        </p:nvSpPr>
        <p:spPr>
          <a:xfrm>
            <a:off x="594360" y="6217920"/>
            <a:ext cx="2513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300" dirty="0"/>
          </a:p>
        </p:txBody>
      </p:sp>
      <p:sp>
        <p:nvSpPr>
          <p:cNvPr id="7" name="phone-04-bands"/>
          <p:cNvSpPr/>
          <p:nvPr/>
        </p:nvSpPr>
        <p:spPr>
          <a:xfrm>
            <a:off x="3621024" y="1700784"/>
            <a:ext cx="2129360" cy="4416552"/>
          </a:xfrm>
          <a:prstGeom prst="roundRect">
            <a:avLst>
              <a:gd name="adj" fmla="val 12024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8" name="shot-04-bands" descr="Ban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83080"/>
            <a:ext cx="1964768" cy="4251960"/>
          </a:xfrm>
          <a:prstGeom prst="rect">
            <a:avLst/>
          </a:prstGeom>
        </p:spPr>
      </p:pic>
      <p:sp>
        <p:nvSpPr>
          <p:cNvPr id="9" name="cap-04-bands"/>
          <p:cNvSpPr txBox="1"/>
          <p:nvPr/>
        </p:nvSpPr>
        <p:spPr>
          <a:xfrm>
            <a:off x="3429000" y="6217920"/>
            <a:ext cx="2513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</a:t>
            </a:r>
            <a:endParaRPr lang="en-US" sz="1300" dirty="0"/>
          </a:p>
        </p:txBody>
      </p:sp>
      <p:sp>
        <p:nvSpPr>
          <p:cNvPr id="10" name="phone-05-band-page"/>
          <p:cNvSpPr/>
          <p:nvPr/>
        </p:nvSpPr>
        <p:spPr>
          <a:xfrm>
            <a:off x="6455664" y="1700784"/>
            <a:ext cx="2129360" cy="4416552"/>
          </a:xfrm>
          <a:prstGeom prst="roundRect">
            <a:avLst>
              <a:gd name="adj" fmla="val 12024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11" name="shot-05-band-page" descr="Band p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1964768" cy="4251960"/>
          </a:xfrm>
          <a:prstGeom prst="rect">
            <a:avLst/>
          </a:prstGeom>
        </p:spPr>
      </p:pic>
      <p:sp>
        <p:nvSpPr>
          <p:cNvPr id="12" name="cap-05-band-page"/>
          <p:cNvSpPr txBox="1"/>
          <p:nvPr/>
        </p:nvSpPr>
        <p:spPr>
          <a:xfrm>
            <a:off x="6263640" y="6217920"/>
            <a:ext cx="2513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page</a:t>
            </a:r>
            <a:endParaRPr lang="en-US" sz="1300" dirty="0"/>
          </a:p>
        </p:txBody>
      </p:sp>
      <p:sp>
        <p:nvSpPr>
          <p:cNvPr id="13" name="phone-03-events"/>
          <p:cNvSpPr/>
          <p:nvPr/>
        </p:nvSpPr>
        <p:spPr>
          <a:xfrm>
            <a:off x="9290304" y="1700784"/>
            <a:ext cx="2129360" cy="4416552"/>
          </a:xfrm>
          <a:prstGeom prst="roundRect">
            <a:avLst>
              <a:gd name="adj" fmla="val 12024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14" name="shot-03-events" descr="Eve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783080"/>
            <a:ext cx="1964768" cy="4251960"/>
          </a:xfrm>
          <a:prstGeom prst="rect">
            <a:avLst/>
          </a:prstGeom>
        </p:spPr>
      </p:pic>
      <p:sp>
        <p:nvSpPr>
          <p:cNvPr id="15" name="cap-03-events"/>
          <p:cNvSpPr txBox="1"/>
          <p:nvPr/>
        </p:nvSpPr>
        <p:spPr>
          <a:xfrm>
            <a:off x="9098280" y="6217920"/>
            <a:ext cx="2513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411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Care, community and the store</a:t>
            </a:r>
            <a:endParaRPr lang="en-US" sz="3400" dirty="0"/>
          </a:p>
        </p:txBody>
      </p:sp>
      <p:sp>
        <p:nvSpPr>
          <p:cNvPr id="3" name="phone-10-prayer"/>
          <p:cNvSpPr/>
          <p:nvPr/>
        </p:nvSpPr>
        <p:spPr>
          <a:xfrm>
            <a:off x="786384" y="1380744"/>
            <a:ext cx="2277246" cy="4736592"/>
          </a:xfrm>
          <a:prstGeom prst="roundRect">
            <a:avLst>
              <a:gd name="adj" fmla="val 11243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4" name="shot-10-prayer" descr="Prayer reque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2112654" cy="4572000"/>
          </a:xfrm>
          <a:prstGeom prst="rect">
            <a:avLst/>
          </a:prstGeom>
        </p:spPr>
      </p:pic>
      <p:sp>
        <p:nvSpPr>
          <p:cNvPr id="5" name="cap-10-prayer"/>
          <p:cNvSpPr txBox="1"/>
          <p:nvPr/>
        </p:nvSpPr>
        <p:spPr>
          <a:xfrm>
            <a:off x="594360" y="6217920"/>
            <a:ext cx="2661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 requests</a:t>
            </a:r>
            <a:endParaRPr lang="en-US" sz="1300" dirty="0"/>
          </a:p>
        </p:txBody>
      </p:sp>
      <p:sp>
        <p:nvSpPr>
          <p:cNvPr id="6" name="phone-11-counseling"/>
          <p:cNvSpPr/>
          <p:nvPr/>
        </p:nvSpPr>
        <p:spPr>
          <a:xfrm>
            <a:off x="3621024" y="1380744"/>
            <a:ext cx="2277246" cy="4736592"/>
          </a:xfrm>
          <a:prstGeom prst="roundRect">
            <a:avLst>
              <a:gd name="adj" fmla="val 11243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7" name="shot-11-counseling" descr="Counse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463040"/>
            <a:ext cx="2112654" cy="4572000"/>
          </a:xfrm>
          <a:prstGeom prst="rect">
            <a:avLst/>
          </a:prstGeom>
        </p:spPr>
      </p:pic>
      <p:sp>
        <p:nvSpPr>
          <p:cNvPr id="8" name="cap-11-counseling"/>
          <p:cNvSpPr txBox="1"/>
          <p:nvPr/>
        </p:nvSpPr>
        <p:spPr>
          <a:xfrm>
            <a:off x="3429000" y="6217920"/>
            <a:ext cx="2661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Counseling</a:t>
            </a:r>
            <a:endParaRPr lang="en-US" sz="1300" dirty="0"/>
          </a:p>
        </p:txBody>
      </p:sp>
      <p:sp>
        <p:nvSpPr>
          <p:cNvPr id="9" name="phone-06-merch"/>
          <p:cNvSpPr/>
          <p:nvPr/>
        </p:nvSpPr>
        <p:spPr>
          <a:xfrm>
            <a:off x="6455664" y="1380744"/>
            <a:ext cx="2277246" cy="4736592"/>
          </a:xfrm>
          <a:prstGeom prst="roundRect">
            <a:avLst>
              <a:gd name="adj" fmla="val 11243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10" name="shot-06-merch" descr="Merch 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63040"/>
            <a:ext cx="2112654" cy="4572000"/>
          </a:xfrm>
          <a:prstGeom prst="rect">
            <a:avLst/>
          </a:prstGeom>
        </p:spPr>
      </p:pic>
      <p:sp>
        <p:nvSpPr>
          <p:cNvPr id="11" name="cap-06-merch"/>
          <p:cNvSpPr txBox="1"/>
          <p:nvPr/>
        </p:nvSpPr>
        <p:spPr>
          <a:xfrm>
            <a:off x="6263640" y="6217920"/>
            <a:ext cx="2661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 store</a:t>
            </a:r>
            <a:endParaRPr lang="en-US" sz="1300" dirty="0"/>
          </a:p>
        </p:txBody>
      </p:sp>
      <p:sp>
        <p:nvSpPr>
          <p:cNvPr id="12" name="phone-22-my-dashboard"/>
          <p:cNvSpPr/>
          <p:nvPr/>
        </p:nvSpPr>
        <p:spPr>
          <a:xfrm>
            <a:off x="9290304" y="1380744"/>
            <a:ext cx="2277246" cy="4736592"/>
          </a:xfrm>
          <a:prstGeom prst="roundRect">
            <a:avLst>
              <a:gd name="adj" fmla="val 11243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13" name="shot-22-my-dashboard" descr="My 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463040"/>
            <a:ext cx="2112654" cy="4572000"/>
          </a:xfrm>
          <a:prstGeom prst="rect">
            <a:avLst/>
          </a:prstGeom>
        </p:spPr>
      </p:pic>
      <p:sp>
        <p:nvSpPr>
          <p:cNvPr id="14" name="cap-22-my-dashboard"/>
          <p:cNvSpPr txBox="1"/>
          <p:nvPr/>
        </p:nvSpPr>
        <p:spPr>
          <a:xfrm>
            <a:off x="9098280" y="6217920"/>
            <a:ext cx="2661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dashboard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411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for leaders</a:t>
            </a:r>
            <a:endParaRPr lang="en-US" sz="3400" dirty="0"/>
          </a:p>
        </p:txBody>
      </p:sp>
      <p:sp>
        <p:nvSpPr>
          <p:cNvPr id="3" name="phone-24-admin-dashboard"/>
          <p:cNvSpPr/>
          <p:nvPr/>
        </p:nvSpPr>
        <p:spPr>
          <a:xfrm>
            <a:off x="786384" y="1380744"/>
            <a:ext cx="2277246" cy="4736592"/>
          </a:xfrm>
          <a:prstGeom prst="roundRect">
            <a:avLst>
              <a:gd name="adj" fmla="val 11243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4" name="shot-24-admin-dashboard" descr="Admin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2112654" cy="4572000"/>
          </a:xfrm>
          <a:prstGeom prst="rect">
            <a:avLst/>
          </a:prstGeom>
        </p:spPr>
      </p:pic>
      <p:sp>
        <p:nvSpPr>
          <p:cNvPr id="5" name="cap-24-admin-dashboard"/>
          <p:cNvSpPr txBox="1"/>
          <p:nvPr/>
        </p:nvSpPr>
        <p:spPr>
          <a:xfrm>
            <a:off x="594360" y="6217920"/>
            <a:ext cx="2661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6" name="phone-34-band-dashboard"/>
          <p:cNvSpPr/>
          <p:nvPr/>
        </p:nvSpPr>
        <p:spPr>
          <a:xfrm>
            <a:off x="3621024" y="1380744"/>
            <a:ext cx="2277246" cy="4736592"/>
          </a:xfrm>
          <a:prstGeom prst="roundRect">
            <a:avLst>
              <a:gd name="adj" fmla="val 11243"/>
            </a:avLst>
          </a:prstGeom>
          <a:solidFill>
            <a:srgbClr val="0B0F12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pic>
        <p:nvPicPr>
          <p:cNvPr id="7" name="shot-34-band-dashboard" descr="Band adm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463040"/>
            <a:ext cx="2112654" cy="4572000"/>
          </a:xfrm>
          <a:prstGeom prst="rect">
            <a:avLst/>
          </a:prstGeom>
        </p:spPr>
      </p:pic>
      <p:sp>
        <p:nvSpPr>
          <p:cNvPr id="8" name="cap-34-band-dashboard"/>
          <p:cNvSpPr txBox="1"/>
          <p:nvPr/>
        </p:nvSpPr>
        <p:spPr>
          <a:xfrm>
            <a:off x="3429000" y="6217920"/>
            <a:ext cx="2661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admin</a:t>
            </a:r>
            <a:endParaRPr lang="en-US" sz="1300" dirty="0"/>
          </a:p>
        </p:txBody>
      </p:sp>
      <p:sp>
        <p:nvSpPr>
          <p:cNvPr id="9" name="leader-bullets"/>
          <p:cNvSpPr txBox="1"/>
          <p:nvPr/>
        </p:nvSpPr>
        <p:spPr>
          <a:xfrm>
            <a:off x="6766560" y="173736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counts of new prayer requests, counseling, volunteers and orders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Post news and events with photos, straight from a phone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Band admins post announcements, run events and see their members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admins can change roles — enforced by the database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411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website</a:t>
            </a:r>
            <a:endParaRPr lang="en-US" sz="3400" dirty="0"/>
          </a:p>
        </p:txBody>
      </p:sp>
      <p:sp>
        <p:nvSpPr>
          <p:cNvPr id="3" name="web-sub"/>
          <p:cNvSpPr txBox="1"/>
          <p:nvPr/>
        </p:nvSpPr>
        <p:spPr>
          <a:xfrm>
            <a:off x="54864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content, same account — on any computer.</a:t>
            </a:r>
            <a:endParaRPr lang="en-US" sz="1600" dirty="0"/>
          </a:p>
        </p:txBody>
      </p:sp>
      <p:sp>
        <p:nvSpPr>
          <p:cNvPr id="4" name="browser-01-home"/>
          <p:cNvSpPr/>
          <p:nvPr/>
        </p:nvSpPr>
        <p:spPr>
          <a:xfrm>
            <a:off x="493776" y="1545336"/>
            <a:ext cx="5458968" cy="3727323"/>
          </a:xfrm>
          <a:prstGeom prst="roundRect">
            <a:avLst>
              <a:gd name="adj" fmla="val 2944"/>
            </a:avLst>
          </a:prstGeom>
          <a:solidFill>
            <a:srgbClr val="DDE2EA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sp>
        <p:nvSpPr>
          <p:cNvPr id="5" name="dot-01-home-0"/>
          <p:cNvSpPr/>
          <p:nvPr/>
        </p:nvSpPr>
        <p:spPr>
          <a:xfrm>
            <a:off x="658368" y="1655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86B5F"/>
          </a:solidFill>
          <a:ln/>
        </p:spPr>
      </p:sp>
      <p:sp>
        <p:nvSpPr>
          <p:cNvPr id="6" name="dot-01-home-1"/>
          <p:cNvSpPr/>
          <p:nvPr/>
        </p:nvSpPr>
        <p:spPr>
          <a:xfrm>
            <a:off x="841248" y="1655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E4F"/>
          </a:solidFill>
          <a:ln/>
        </p:spPr>
      </p:sp>
      <p:sp>
        <p:nvSpPr>
          <p:cNvPr id="7" name="dot-01-home-2"/>
          <p:cNvSpPr/>
          <p:nvPr/>
        </p:nvSpPr>
        <p:spPr>
          <a:xfrm>
            <a:off x="1024128" y="1655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2C554"/>
          </a:solidFill>
          <a:ln/>
        </p:spPr>
      </p:sp>
      <p:pic>
        <p:nvPicPr>
          <p:cNvPr id="8" name="web-01-home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349240" cy="3343275"/>
          </a:xfrm>
          <a:prstGeom prst="rect">
            <a:avLst/>
          </a:prstGeom>
        </p:spPr>
      </p:pic>
      <p:sp>
        <p:nvSpPr>
          <p:cNvPr id="9" name="cap-01-home"/>
          <p:cNvSpPr txBox="1"/>
          <p:nvPr/>
        </p:nvSpPr>
        <p:spPr>
          <a:xfrm>
            <a:off x="548640" y="5382387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300" dirty="0"/>
          </a:p>
        </p:txBody>
      </p:sp>
      <p:sp>
        <p:nvSpPr>
          <p:cNvPr id="10" name="browser-16-admin-dashboard"/>
          <p:cNvSpPr/>
          <p:nvPr/>
        </p:nvSpPr>
        <p:spPr>
          <a:xfrm>
            <a:off x="6236208" y="1545336"/>
            <a:ext cx="5458968" cy="3727323"/>
          </a:xfrm>
          <a:prstGeom prst="roundRect">
            <a:avLst>
              <a:gd name="adj" fmla="val 2944"/>
            </a:avLst>
          </a:prstGeom>
          <a:solidFill>
            <a:srgbClr val="DDE2EA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sp>
        <p:nvSpPr>
          <p:cNvPr id="11" name="dot-16-admin-dashboard-0"/>
          <p:cNvSpPr/>
          <p:nvPr/>
        </p:nvSpPr>
        <p:spPr>
          <a:xfrm>
            <a:off x="6400800" y="1655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86B5F"/>
          </a:solidFill>
          <a:ln/>
        </p:spPr>
      </p:sp>
      <p:sp>
        <p:nvSpPr>
          <p:cNvPr id="12" name="dot-16-admin-dashboard-1"/>
          <p:cNvSpPr/>
          <p:nvPr/>
        </p:nvSpPr>
        <p:spPr>
          <a:xfrm>
            <a:off x="6583680" y="1655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E4F"/>
          </a:solidFill>
          <a:ln/>
        </p:spPr>
      </p:sp>
      <p:sp>
        <p:nvSpPr>
          <p:cNvPr id="13" name="dot-16-admin-dashboard-2"/>
          <p:cNvSpPr/>
          <p:nvPr/>
        </p:nvSpPr>
        <p:spPr>
          <a:xfrm>
            <a:off x="6766560" y="1655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2C554"/>
          </a:solidFill>
          <a:ln/>
        </p:spPr>
      </p:sp>
      <p:pic>
        <p:nvPicPr>
          <p:cNvPr id="14" name="web-16-admin-dashboard" descr="Admin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874520"/>
            <a:ext cx="5349240" cy="3343275"/>
          </a:xfrm>
          <a:prstGeom prst="rect">
            <a:avLst/>
          </a:prstGeom>
        </p:spPr>
      </p:pic>
      <p:sp>
        <p:nvSpPr>
          <p:cNvPr id="15" name="cap-16-admin-dashboard"/>
          <p:cNvSpPr txBox="1"/>
          <p:nvPr/>
        </p:nvSpPr>
        <p:spPr>
          <a:xfrm>
            <a:off x="6291072" y="5382387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411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account, one backend</a:t>
            </a:r>
            <a:endParaRPr lang="en-US" sz="3400" dirty="0"/>
          </a:p>
        </p:txBody>
      </p:sp>
      <p:sp>
        <p:nvSpPr>
          <p:cNvPr id="3" name="node-app"/>
          <p:cNvSpPr/>
          <p:nvPr/>
        </p:nvSpPr>
        <p:spPr>
          <a:xfrm>
            <a:off x="548640" y="2011680"/>
            <a:ext cx="3017520" cy="1737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sp>
        <p:nvSpPr>
          <p:cNvPr id="4" name="node-app-h"/>
          <p:cNvSpPr txBox="1"/>
          <p:nvPr/>
        </p:nvSpPr>
        <p:spPr>
          <a:xfrm>
            <a:off x="82296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</a:t>
            </a:r>
            <a:endParaRPr lang="en-US" sz="2200" dirty="0"/>
          </a:p>
        </p:txBody>
      </p:sp>
      <p:sp>
        <p:nvSpPr>
          <p:cNvPr id="5" name="node-app-s"/>
          <p:cNvSpPr txBox="1"/>
          <p:nvPr/>
        </p:nvSpPr>
        <p:spPr>
          <a:xfrm>
            <a:off x="82296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2"/>
                </a:solidFill>
              </a:rPr>
              <a:t>Expo · iOS &amp; Android</a:t>
            </a:r>
            <a:endParaRPr lang="en-US" sz="1400" dirty="0"/>
          </a:p>
        </p:txBody>
      </p:sp>
      <p:sp>
        <p:nvSpPr>
          <p:cNvPr id="6" name="node-db"/>
          <p:cNvSpPr/>
          <p:nvPr/>
        </p:nvSpPr>
        <p:spPr>
          <a:xfrm>
            <a:off x="4572000" y="2011680"/>
            <a:ext cx="3017520" cy="1737360"/>
          </a:xfrm>
          <a:prstGeom prst="roundRect">
            <a:avLst>
              <a:gd name="adj" fmla="val 10526"/>
            </a:avLst>
          </a:prstGeom>
          <a:solidFill>
            <a:srgbClr val="0F2D6E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sp>
        <p:nvSpPr>
          <p:cNvPr id="7" name="node-db-h"/>
          <p:cNvSpPr txBox="1"/>
          <p:nvPr/>
        </p:nvSpPr>
        <p:spPr>
          <a:xfrm>
            <a:off x="484632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2200" dirty="0"/>
          </a:p>
        </p:txBody>
      </p:sp>
      <p:sp>
        <p:nvSpPr>
          <p:cNvPr id="8" name="node-db-s"/>
          <p:cNvSpPr txBox="1"/>
          <p:nvPr/>
        </p:nvSpPr>
        <p:spPr>
          <a:xfrm>
            <a:off x="484632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Database · sign-in · photos</a:t>
            </a:r>
            <a:endParaRPr lang="en-US" sz="1400" dirty="0"/>
          </a:p>
        </p:txBody>
      </p:sp>
      <p:sp>
        <p:nvSpPr>
          <p:cNvPr id="9" name="node-web"/>
          <p:cNvSpPr/>
          <p:nvPr/>
        </p:nvSpPr>
        <p:spPr>
          <a:xfrm>
            <a:off x="8595360" y="2011680"/>
            <a:ext cx="3017520" cy="1737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B0F12">
                <a:alpha val="18000"/>
              </a:srgbClr>
            </a:outerShdw>
          </a:effectLst>
        </p:spPr>
      </p:sp>
      <p:sp>
        <p:nvSpPr>
          <p:cNvPr id="10" name="node-web-h"/>
          <p:cNvSpPr txBox="1"/>
          <p:nvPr/>
        </p:nvSpPr>
        <p:spPr>
          <a:xfrm>
            <a:off x="886968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2200" dirty="0"/>
          </a:p>
        </p:txBody>
      </p:sp>
      <p:sp>
        <p:nvSpPr>
          <p:cNvPr id="11" name="node-web-s"/>
          <p:cNvSpPr txBox="1"/>
          <p:nvPr/>
        </p:nvSpPr>
        <p:spPr>
          <a:xfrm>
            <a:off x="886968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2"/>
                </a:solidFill>
              </a:rPr>
              <a:t>Next.js</a:t>
            </a:r>
            <a:endParaRPr lang="en-US" sz="1400" dirty="0"/>
          </a:p>
        </p:txBody>
      </p:sp>
      <p:sp>
        <p:nvSpPr>
          <p:cNvPr id="12" name="arrow-l"/>
          <p:cNvSpPr txBox="1"/>
          <p:nvPr/>
        </p:nvSpPr>
        <p:spPr>
          <a:xfrm>
            <a:off x="361188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</a:rPr>
              <a:t>⟷</a:t>
            </a:r>
            <a:endParaRPr lang="en-US" sz="3000" dirty="0"/>
          </a:p>
        </p:txBody>
      </p:sp>
      <p:sp>
        <p:nvSpPr>
          <p:cNvPr id="13" name="arrow-r"/>
          <p:cNvSpPr txBox="1"/>
          <p:nvPr/>
        </p:nvSpPr>
        <p:spPr>
          <a:xfrm>
            <a:off x="763524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</a:rPr>
              <a:t>⟷</a:t>
            </a:r>
            <a:endParaRPr lang="en-US" sz="3000" dirty="0"/>
          </a:p>
        </p:txBody>
      </p:sp>
      <p:sp>
        <p:nvSpPr>
          <p:cNvPr id="14" name="backend-bullets"/>
          <p:cNvSpPr txBox="1"/>
          <p:nvPr/>
        </p:nvSpPr>
        <p:spPr>
          <a:xfrm>
            <a:off x="548640" y="42519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Sign up once — the same account works in the app and on the website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Prayer and counseling requests are private to the student and the leaders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new account starts as a student; admins grant leader access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xt-title"/>
          <p:cNvSpPr txBox="1"/>
          <p:nvPr/>
        </p:nvSpPr>
        <p:spPr>
          <a:xfrm>
            <a:off x="82296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the team</a:t>
            </a:r>
            <a:endParaRPr lang="en-US" sz="3800" dirty="0"/>
          </a:p>
        </p:txBody>
      </p:sp>
      <p:sp>
        <p:nvSpPr>
          <p:cNvPr id="3" name="next-card-0"/>
          <p:cNvSpPr/>
          <p:nvPr/>
        </p:nvSpPr>
        <p:spPr>
          <a:xfrm>
            <a:off x="822960" y="2011680"/>
            <a:ext cx="3291840" cy="2560320"/>
          </a:xfrm>
          <a:prstGeom prst="roundRect">
            <a:avLst>
              <a:gd name="adj" fmla="val 6429"/>
            </a:avLst>
          </a:prstGeom>
          <a:solidFill>
            <a:srgbClr val="0A1F4D"/>
          </a:solidFill>
          <a:ln/>
        </p:spPr>
      </p:sp>
      <p:sp>
        <p:nvSpPr>
          <p:cNvPr id="4" name="next-h-0"/>
          <p:cNvSpPr txBox="1"/>
          <p:nvPr/>
        </p:nvSpPr>
        <p:spPr>
          <a:xfrm>
            <a:off x="114300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it</a:t>
            </a:r>
            <a:endParaRPr lang="en-US" sz="2400" dirty="0"/>
          </a:p>
        </p:txBody>
      </p:sp>
      <p:sp>
        <p:nvSpPr>
          <p:cNvPr id="5" name="next-b-0"/>
          <p:cNvSpPr txBox="1"/>
          <p:nvPr/>
        </p:nvSpPr>
        <p:spPr>
          <a:xfrm>
            <a:off x="1143000" y="2926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Install the test build, try every screen, and report anything confusing.</a:t>
            </a:r>
            <a:endParaRPr lang="en-US" sz="1600" dirty="0"/>
          </a:p>
        </p:txBody>
      </p:sp>
      <p:sp>
        <p:nvSpPr>
          <p:cNvPr id="6" name="next-card-1"/>
          <p:cNvSpPr/>
          <p:nvPr/>
        </p:nvSpPr>
        <p:spPr>
          <a:xfrm>
            <a:off x="4434840" y="2011680"/>
            <a:ext cx="3291840" cy="2560320"/>
          </a:xfrm>
          <a:prstGeom prst="roundRect">
            <a:avLst>
              <a:gd name="adj" fmla="val 6429"/>
            </a:avLst>
          </a:prstGeom>
          <a:solidFill>
            <a:srgbClr val="0A1F4D"/>
          </a:solidFill>
          <a:ln/>
        </p:spPr>
      </p:sp>
      <p:sp>
        <p:nvSpPr>
          <p:cNvPr id="7" name="next-h-1"/>
          <p:cNvSpPr txBox="1"/>
          <p:nvPr/>
        </p:nvSpPr>
        <p:spPr>
          <a:xfrm>
            <a:off x="475488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it</a:t>
            </a:r>
            <a:endParaRPr lang="en-US" sz="2400" dirty="0"/>
          </a:p>
        </p:txBody>
      </p:sp>
      <p:sp>
        <p:nvSpPr>
          <p:cNvPr id="8" name="next-b-1"/>
          <p:cNvSpPr txBox="1"/>
          <p:nvPr/>
        </p:nvSpPr>
        <p:spPr>
          <a:xfrm>
            <a:off x="4754880" y="2926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Leaders: add this term’s events, band announcements and resources.</a:t>
            </a:r>
            <a:endParaRPr lang="en-US" sz="1600" dirty="0"/>
          </a:p>
        </p:txBody>
      </p:sp>
      <p:sp>
        <p:nvSpPr>
          <p:cNvPr id="9" name="next-card-2"/>
          <p:cNvSpPr/>
          <p:nvPr/>
        </p:nvSpPr>
        <p:spPr>
          <a:xfrm>
            <a:off x="8046720" y="2011680"/>
            <a:ext cx="3291840" cy="2560320"/>
          </a:xfrm>
          <a:prstGeom prst="roundRect">
            <a:avLst>
              <a:gd name="adj" fmla="val 6429"/>
            </a:avLst>
          </a:prstGeom>
          <a:solidFill>
            <a:srgbClr val="0A1F4D"/>
          </a:solidFill>
          <a:ln/>
        </p:spPr>
      </p:sp>
      <p:sp>
        <p:nvSpPr>
          <p:cNvPr id="10" name="next-h-2"/>
          <p:cNvSpPr txBox="1"/>
          <p:nvPr/>
        </p:nvSpPr>
        <p:spPr>
          <a:xfrm>
            <a:off x="836676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it</a:t>
            </a:r>
            <a:endParaRPr lang="en-US" sz="2400" dirty="0"/>
          </a:p>
        </p:txBody>
      </p:sp>
      <p:sp>
        <p:nvSpPr>
          <p:cNvPr id="11" name="next-b-2"/>
          <p:cNvSpPr txBox="1"/>
          <p:nvPr/>
        </p:nvSpPr>
        <p:spPr>
          <a:xfrm>
            <a:off x="8366760" y="2926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Use the posters in the brand kit to invite students to download the app.</a:t>
            </a:r>
            <a:endParaRPr lang="en-US" sz="1600" dirty="0"/>
          </a:p>
        </p:txBody>
      </p:sp>
      <p:pic>
        <p:nvPicPr>
          <p:cNvPr id="12" name="pcm-shield-end" descr="CBU PCM 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57800"/>
            <a:ext cx="668797" cy="822960"/>
          </a:xfrm>
          <a:prstGeom prst="rect">
            <a:avLst/>
          </a:prstGeom>
        </p:spPr>
      </p:pic>
      <p:sp>
        <p:nvSpPr>
          <p:cNvPr id="13" name="end-endorse"/>
          <p:cNvSpPr txBox="1"/>
          <p:nvPr/>
        </p:nvSpPr>
        <p:spPr>
          <a:xfrm>
            <a:off x="1600200" y="5440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</a:rPr>
              <a:t>The Haven · A ministry of CBU PCM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 Haven">
  <a:themeElements>
    <a:clrScheme name="The Haven">
      <a:dk1>
        <a:srgbClr val="0B0F12"/>
      </a:dk1>
      <a:lt1>
        <a:srgbClr val="FFFFFF"/>
      </a:lt1>
      <a:dk2>
        <a:srgbClr val="0F2D6E"/>
      </a:dk2>
      <a:lt2>
        <a:srgbClr val="FAFBFC"/>
      </a:lt2>
      <a:accent1>
        <a:srgbClr val="0F2D6E"/>
      </a:accent1>
      <a:accent2>
        <a:srgbClr val="D9A441"/>
      </a:accent2>
      <a:accent3>
        <a:srgbClr val="5B6472"/>
      </a:accent3>
      <a:accent4>
        <a:srgbClr val="E8EDF7"/>
      </a:accent4>
      <a:accent5>
        <a:srgbClr val="0A1F4D"/>
      </a:accent5>
      <a:accent6>
        <a:srgbClr val="C94A4A"/>
      </a:accent6>
      <a:hlink>
        <a:srgbClr val="0F2D6E"/>
      </a:hlink>
      <a:folHlink>
        <a:srgbClr val="0F2D6E"/>
      </a:folHlink>
    </a:clrScheme>
    <a:fontScheme name="The Have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The Haven</dc:title>
  <dc:subject>PptxGenJS Presentation</dc:subject>
  <dc:creator>The Haven team</dc:creator>
  <cp:lastModifiedBy>The Haven team</cp:lastModifiedBy>
  <cp:revision>1</cp:revision>
  <dcterms:created xsi:type="dcterms:W3CDTF">2026-10-18T16:05:57Z</dcterms:created>
  <dcterms:modified xsi:type="dcterms:W3CDTF">2026-10-18T16:05:57Z</dcterms:modified>
</cp:coreProperties>
</file>